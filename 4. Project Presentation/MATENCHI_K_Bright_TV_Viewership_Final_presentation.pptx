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5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Viewing records</c:v>
                </c:pt>
              </c:strCache>
            </c:strRef>
          </c:tx>
          <c:spPr>
            <a:ln w="38100" cap="flat">
              <a:solidFill>
                <a:srgbClr val="0B6E4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B6E4F"/>
              </a:solidFill>
              <a:ln w="9525" cap="flat">
                <a:solidFill>
                  <a:srgbClr val="0B6E4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C2B26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2203</c:v>
                </c:pt>
                <c:pt idx="1">
                  <c:v>2976</c:v>
                </c:pt>
                <c:pt idx="2">
                  <c:v>4821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13-472B-8CB3-5D0D929495A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"/>
          <c:min val="0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E166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1C2B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Supersport Live Events</c:v>
                </c:pt>
                <c:pt idx="1">
                  <c:v>ICC Cricket World Cup 2011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47-4F73-9CCF-5AB4535B8E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2B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1C2B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ICC Cricket World Cup 2011</c:v>
                </c:pt>
                <c:pt idx="1">
                  <c:v>Trace TV</c:v>
                </c:pt>
                <c:pt idx="2">
                  <c:v>Supersport Live Events</c:v>
                </c:pt>
                <c:pt idx="3">
                  <c:v>Channel O</c:v>
                </c:pt>
                <c:pt idx="4">
                  <c:v>CNN</c:v>
                </c:pt>
                <c:pt idx="5">
                  <c:v>Boomerang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16.8</c:v>
                </c:pt>
                <c:pt idx="1">
                  <c:v>11.4</c:v>
                </c:pt>
                <c:pt idx="2">
                  <c:v>9.3000000000000007</c:v>
                </c:pt>
                <c:pt idx="3">
                  <c:v>8.6</c:v>
                </c:pt>
                <c:pt idx="4">
                  <c:v>6.2</c:v>
                </c:pt>
                <c:pt idx="5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E2-4EE1-BE87-1F3E78D4E5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2B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3E-4193-8108-64AF18F61F1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D3E-4193-8108-64AF18F61F1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D3E-4193-8108-64AF18F61F1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D3E-4193-8108-64AF18F61F1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D3E-4193-8108-64AF18F61F1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D3E-4193-8108-64AF18F61F1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D3E-4193-8108-64AF18F61F1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D3E-4193-8108-64AF18F61F1E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D3E-4193-8108-64AF18F61F1E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D3E-4193-8108-64AF18F61F1E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1D3E-4193-8108-64AF18F61F1E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1D3E-4193-8108-64AF18F61F1E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1D3E-4193-8108-64AF18F61F1E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1D3E-4193-8108-64AF18F61F1E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1D3E-4193-8108-64AF18F61F1E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1D3E-4193-8108-64AF18F61F1E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1D3E-4193-8108-64AF18F61F1E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1D3E-4193-8108-64AF18F61F1E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1D3E-4193-8108-64AF18F61F1E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1D3E-4193-8108-64AF18F61F1E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9-1D3E-4193-8108-64AF18F61F1E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B-1D3E-4193-8108-64AF18F61F1E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D-1D3E-4193-8108-64AF18F61F1E}"/>
              </c:ext>
            </c:extLst>
          </c:dPt>
          <c:dPt>
            <c:idx val="2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F-1D3E-4193-8108-64AF18F61F1E}"/>
              </c:ext>
            </c:extLst>
          </c:dPt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80</c:v>
                </c:pt>
                <c:pt idx="1">
                  <c:v>60</c:v>
                </c:pt>
                <c:pt idx="2">
                  <c:v>50</c:v>
                </c:pt>
                <c:pt idx="3">
                  <c:v>45</c:v>
                </c:pt>
                <c:pt idx="4">
                  <c:v>60</c:v>
                </c:pt>
                <c:pt idx="5">
                  <c:v>95</c:v>
                </c:pt>
                <c:pt idx="6">
                  <c:v>180</c:v>
                </c:pt>
                <c:pt idx="7">
                  <c:v>295</c:v>
                </c:pt>
                <c:pt idx="8">
                  <c:v>405</c:v>
                </c:pt>
                <c:pt idx="9">
                  <c:v>405</c:v>
                </c:pt>
                <c:pt idx="10">
                  <c:v>540</c:v>
                </c:pt>
                <c:pt idx="11">
                  <c:v>540</c:v>
                </c:pt>
                <c:pt idx="12">
                  <c:v>565</c:v>
                </c:pt>
                <c:pt idx="13">
                  <c:v>630</c:v>
                </c:pt>
                <c:pt idx="14">
                  <c:v>615</c:v>
                </c:pt>
                <c:pt idx="15">
                  <c:v>648</c:v>
                </c:pt>
                <c:pt idx="16">
                  <c:v>630</c:v>
                </c:pt>
                <c:pt idx="17">
                  <c:v>635</c:v>
                </c:pt>
                <c:pt idx="18">
                  <c:v>630</c:v>
                </c:pt>
                <c:pt idx="19">
                  <c:v>590</c:v>
                </c:pt>
                <c:pt idx="20">
                  <c:v>500</c:v>
                </c:pt>
                <c:pt idx="21">
                  <c:v>360</c:v>
                </c:pt>
                <c:pt idx="22">
                  <c:v>180</c:v>
                </c:pt>
                <c:pt idx="23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1D3E-4193-8108-64AF18F61F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C2B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6947</c:v>
                </c:pt>
                <c:pt idx="1">
                  <c:v>3053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2E-49AB-88B1-C36FE62921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2E-4A6B-95D1-297C142DE1C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A2E-4A6B-95D1-297C142DE1C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A2E-4A6B-95D1-297C142DE1C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A2E-4A6B-95D1-297C142DE1C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A2E-4A6B-95D1-297C142DE1C6}"/>
              </c:ext>
            </c:extLst>
          </c:dPt>
          <c:dPt>
            <c:idx val="5"/>
            <c:invertIfNegative val="0"/>
            <c:bubble3D val="0"/>
            <c:spPr>
              <a:solidFill>
                <a:srgbClr val="E166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A2E-4A6B-95D1-297C142DE1C6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A2E-4A6B-95D1-297C142DE1C6}"/>
              </c:ext>
            </c:extLst>
          </c:dPt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980</c:v>
                </c:pt>
                <c:pt idx="1">
                  <c:v>1320</c:v>
                </c:pt>
                <c:pt idx="2">
                  <c:v>1540</c:v>
                </c:pt>
                <c:pt idx="3">
                  <c:v>1460</c:v>
                </c:pt>
                <c:pt idx="4">
                  <c:v>1650</c:v>
                </c:pt>
                <c:pt idx="5">
                  <c:v>1660</c:v>
                </c:pt>
                <c:pt idx="6">
                  <c:v>1400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A2E-4A6B-95D1-297C142DE1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2B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8FC1A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FFE-46AD-B375-A4CC1118092A}"/>
              </c:ext>
            </c:extLst>
          </c:dPt>
          <c:dPt>
            <c:idx val="1"/>
            <c:invertIfNegative val="0"/>
            <c:bubble3D val="0"/>
            <c:spPr>
              <a:solidFill>
                <a:srgbClr val="E166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FE-46AD-B375-A4CC1118092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FFE-46AD-B375-A4CC1118092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FFE-46AD-B375-A4CC1118092A}"/>
              </c:ext>
            </c:extLst>
          </c:dPt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After-Noon</c:v>
                </c:pt>
                <c:pt idx="2">
                  <c:v>Evening</c:v>
                </c:pt>
                <c:pt idx="3">
                  <c:v>Mid-Night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3100</c:v>
                </c:pt>
                <c:pt idx="1">
                  <c:v>3150</c:v>
                </c:pt>
                <c:pt idx="2">
                  <c:v>3000</c:v>
                </c:pt>
                <c:pt idx="3">
                  <c:v>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FFE-46AD-B375-A4CC111809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C2B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3650</c:v>
                </c:pt>
                <c:pt idx="1">
                  <c:v>1850</c:v>
                </c:pt>
                <c:pt idx="2">
                  <c:v>950</c:v>
                </c:pt>
                <c:pt idx="3">
                  <c:v>900</c:v>
                </c:pt>
                <c:pt idx="4">
                  <c:v>750</c:v>
                </c:pt>
                <c:pt idx="5">
                  <c:v>650</c:v>
                </c:pt>
                <c:pt idx="6">
                  <c:v>450</c:v>
                </c:pt>
                <c:pt idx="7">
                  <c:v>350</c:v>
                </c:pt>
                <c:pt idx="8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EF-4652-841E-36A966AE33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C2B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E166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47-4E4D-9334-9120EC67F886}"/>
              </c:ext>
            </c:extLst>
          </c:dPt>
          <c:dPt>
            <c:idx val="1"/>
            <c:invertIfNegative val="0"/>
            <c:bubble3D val="0"/>
            <c:spPr>
              <a:solidFill>
                <a:srgbClr val="8FC1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47-4E4D-9334-9120EC67F886}"/>
              </c:ext>
            </c:extLst>
          </c:dPt>
          <c:dPt>
            <c:idx val="2"/>
            <c:invertIfNegative val="0"/>
            <c:bubble3D val="0"/>
            <c:spPr>
              <a:solidFill>
                <a:srgbClr val="8FC1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47-4E4D-9334-9120EC67F886}"/>
              </c:ext>
            </c:extLst>
          </c:dPt>
          <c:dPt>
            <c:idx val="3"/>
            <c:invertIfNegative val="0"/>
            <c:bubble3D val="0"/>
            <c:spPr>
              <a:solidFill>
                <a:srgbClr val="8FC1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47-4E4D-9334-9120EC67F886}"/>
              </c:ext>
            </c:extLst>
          </c:dPt>
          <c:dPt>
            <c:idx val="4"/>
            <c:invertIfNegative val="0"/>
            <c:bubble3D val="0"/>
            <c:spPr>
              <a:solidFill>
                <a:srgbClr val="8FC1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347-4E4D-9334-9120EC67F886}"/>
              </c:ext>
            </c:extLst>
          </c:dPt>
          <c:dPt>
            <c:idx val="5"/>
            <c:invertIfNegative val="0"/>
            <c:bubble3D val="0"/>
            <c:spPr>
              <a:solidFill>
                <a:srgbClr val="8FC1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347-4E4D-9334-9120EC67F886}"/>
              </c:ext>
            </c:extLst>
          </c:dPt>
          <c:dPt>
            <c:idx val="6"/>
            <c:invertIfNegative val="0"/>
            <c:bubble3D val="0"/>
            <c:spPr>
              <a:solidFill>
                <a:srgbClr val="8FC1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347-4E4D-9334-9120EC67F886}"/>
              </c:ext>
            </c:extLst>
          </c:dPt>
          <c:cat>
            <c:strRef>
              <c:f>Sheet1!$A$2:$A$8</c:f>
              <c:strCache>
                <c:ptCount val="7"/>
                <c:pt idx="0">
                  <c:v>Young Adult</c:v>
                </c:pt>
                <c:pt idx="1">
                  <c:v>Mature Adult</c:v>
                </c:pt>
                <c:pt idx="2">
                  <c:v>Elder</c:v>
                </c:pt>
                <c:pt idx="3">
                  <c:v>Teenager</c:v>
                </c:pt>
                <c:pt idx="4">
                  <c:v>Babies</c:v>
                </c:pt>
                <c:pt idx="5">
                  <c:v>Kids</c:v>
                </c:pt>
                <c:pt idx="6">
                  <c:v>Seniors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5750</c:v>
                </c:pt>
                <c:pt idx="1">
                  <c:v>2950</c:v>
                </c:pt>
                <c:pt idx="2">
                  <c:v>350</c:v>
                </c:pt>
                <c:pt idx="3">
                  <c:v>350</c:v>
                </c:pt>
                <c:pt idx="4">
                  <c:v>200</c:v>
                </c:pt>
                <c:pt idx="5">
                  <c:v>150</c:v>
                </c:pt>
                <c:pt idx="6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347-4E4D-9334-9120EC67F8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C2B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6E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5E6-4241-B144-650F30AE743B}"/>
              </c:ext>
            </c:extLst>
          </c:dPt>
          <c:dPt>
            <c:idx val="1"/>
            <c:bubble3D val="0"/>
            <c:spPr>
              <a:solidFill>
                <a:srgbClr val="E166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E6-4241-B144-650F30AE743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5E6-4241-B144-650F30AE743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5E6-4241-B144-650F30AE743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 (8,761)</c:v>
                </c:pt>
                <c:pt idx="1">
                  <c:v>Female (977)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8761</c:v>
                </c:pt>
                <c:pt idx="1">
                  <c:v>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E6-4241-B144-650F30AE7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C2B2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Opt-in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Email opt-in</c:v>
                </c:pt>
                <c:pt idx="1">
                  <c:v>Social media opt-in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D9-447C-A0B6-F2B1818854F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2B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646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4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B6E4F">
              <a:alpha val="6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2926080" cy="2926080"/>
          </a:xfrm>
          <a:prstGeom prst="ellipse">
            <a:avLst/>
          </a:prstGeom>
          <a:solidFill>
            <a:srgbClr val="E1662B">
              <a:alpha val="4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C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 Viewership Analysis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 ·  viewer behaviour  ·  peak viewing times  ·  audience segments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3657600"/>
            <a:ext cx="2011680" cy="0"/>
          </a:xfrm>
          <a:prstGeom prst="line">
            <a:avLst/>
          </a:prstGeom>
          <a:noFill/>
          <a:ln w="31750">
            <a:solidFill>
              <a:srgbClr val="E166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January – March 2016   |   10,000 viewing records   |   18 TV channels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Kagiso Matenchi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snapshot of total viewership volume, engagement, and monthly momentum.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4592" y="1435608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4F1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48640" y="1581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VIEWING RECORDS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83180" y="1399965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4F1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081528" y="1581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1,523 hrs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172968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VIEWING HOURS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5468" y="1399965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4F1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5614416" y="1581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 min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05856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WATCH DURATION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25512" y="1356671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4F1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147304" y="1581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38744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CHANNELS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788652" y="1331385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7452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10771632" y="152704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Supersport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Events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71632" y="2331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C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CHANNEL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trend by month</a:t>
            </a:r>
            <a:endParaRPr lang="en-US" sz="15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48640" y="3429000"/>
          <a:ext cx="6400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7223760" y="3429000"/>
            <a:ext cx="4434840" cy="2926080"/>
          </a:xfrm>
          <a:prstGeom prst="roundRect">
            <a:avLst>
              <a:gd name="adj" fmla="val 2500"/>
            </a:avLst>
          </a:prstGeom>
          <a:solidFill>
            <a:srgbClr val="E4F1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19"/>
          <p:cNvSpPr/>
          <p:nvPr/>
        </p:nvSpPr>
        <p:spPr>
          <a:xfrm>
            <a:off x="7498080" y="3639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98080" y="40233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more than doubled from January to March, growing 119% over the quarter. March alone (4,821 records) accounts for nearly half of all viewing activity in the dataset.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498080" y="53492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16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+119%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7498080" y="5943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→ Mar growth in viewing records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DASHBOARD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 draw the most viewers and hold attention the longest.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most watched channels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6692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watch duration (min) — top channels</a:t>
            </a:r>
            <a:endParaRPr lang="en-US" sz="15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1737360"/>
          <a:ext cx="54864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800600"/>
            <a:ext cx="11292840" cy="1234440"/>
          </a:xfrm>
          <a:prstGeom prst="roundRect">
            <a:avLst>
              <a:gd name="adj" fmla="val 5926"/>
            </a:avLst>
          </a:prstGeom>
          <a:solidFill>
            <a:srgbClr val="E4F1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5"/>
          <p:cNvSpPr/>
          <p:nvPr/>
        </p:nvSpPr>
        <p:spPr>
          <a:xfrm>
            <a:off x="731520" y="4956048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leads the way.  </a:t>
            </a: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 and the ICC Cricket World Cup 2011 broadcast together account for roughly 31% of all viewing records, and the World Cup broadcast holds attention longest at nearly 17 minutes per session on average.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DASHBOARD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 behaviour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watch: hourly patterns, weekday vs weekend, and peak time windows.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by hour of day  (peak: 15:00)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6400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132320" y="1371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 vs weekend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7040880" y="1737360"/>
          <a:ext cx="46634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7040880" y="3977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69.5% weekday  ·  30.5% weekend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297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by day of week</a:t>
            </a:r>
            <a:endParaRPr lang="en-US" sz="1400" dirty="0"/>
          </a:p>
        </p:txBody>
      </p:sp>
      <p:graphicFrame>
        <p:nvGraphicFramePr>
          <p:cNvPr id="10" name="Chart 2"/>
          <p:cNvGraphicFramePr/>
          <p:nvPr/>
        </p:nvGraphicFramePr>
        <p:xfrm>
          <a:off x="457200" y="4663440"/>
          <a:ext cx="640080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7132320" y="42976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viewing time analysis</a:t>
            </a:r>
            <a:endParaRPr lang="en-US" sz="1400" dirty="0"/>
          </a:p>
        </p:txBody>
      </p:sp>
      <p:graphicFrame>
        <p:nvGraphicFramePr>
          <p:cNvPr id="12" name="Chart 3"/>
          <p:cNvGraphicFramePr/>
          <p:nvPr/>
        </p:nvGraphicFramePr>
        <p:xfrm>
          <a:off x="7040880" y="4663440"/>
          <a:ext cx="466344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DASHBOARD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behaviour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 segments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watching, by region, age group, gender, and marketing opt-in status.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'Uncategorized' region and 'Unknown' gender excluded.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by region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56692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by age group</a:t>
            </a:r>
            <a:endParaRPr lang="en-US" sz="13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09360" y="1828800"/>
          <a:ext cx="548640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3093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uniform across all records in this dataset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864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by gender</a:t>
            </a:r>
            <a:endParaRPr lang="en-US" sz="1350" dirty="0"/>
          </a:p>
        </p:txBody>
      </p:sp>
      <p:graphicFrame>
        <p:nvGraphicFramePr>
          <p:cNvPr id="11" name="Chart 2"/>
          <p:cNvGraphicFramePr/>
          <p:nvPr/>
        </p:nvGraphicFramePr>
        <p:xfrm>
          <a:off x="640080" y="4434840"/>
          <a:ext cx="4206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512064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opt-in rate</a:t>
            </a:r>
            <a:endParaRPr lang="en-US" sz="1350" dirty="0"/>
          </a:p>
        </p:txBody>
      </p:sp>
      <p:graphicFrame>
        <p:nvGraphicFramePr>
          <p:cNvPr id="13" name="Chart 3"/>
          <p:cNvGraphicFramePr/>
          <p:nvPr/>
        </p:nvGraphicFramePr>
        <p:xfrm>
          <a:off x="5029200" y="4434840"/>
          <a:ext cx="30175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8"/>
          <p:cNvSpPr/>
          <p:nvPr/>
        </p:nvSpPr>
        <p:spPr>
          <a:xfrm>
            <a:off x="8321040" y="41148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E4F1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9"/>
          <p:cNvSpPr/>
          <p:nvPr/>
        </p:nvSpPr>
        <p:spPr>
          <a:xfrm>
            <a:off x="8549640" y="42793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Watch-outs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549640" y="4590288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skews 90% male — worth validating. Opt-in flags read 100% for every record, so they can't yet differentiate viewers for targeting.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DASHBOARD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segments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4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dashboard, and where to focus effort next.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493776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held steady across a short, consistent Jan–Mar 2016 window, climbing from 2,203 to 4,821 records.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 and ICC Cricket World Cup 2011 together drive ~31% of all viewing — sport dominates the mix.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viewing peaks at hour 15; mornings are a close second, with a sharp drop-off after midnight.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viewing (69.5%) outweighs weekend (30.5%) by more than 2:1; Saturday is the single busiest day.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leads by region, and Young Adults are the largest audience segment overall.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skews ~90% male vs 10% female — worth validating against source data.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social opt-in flags read 100% for every record, so they don't yet differentiate viewers.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8FC1A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49224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promote:  </a:t>
            </a:r>
            <a:r>
              <a:rPr lang="en-US" sz="1100" dirty="0">
                <a:solidFill>
                  <a:srgbClr val="0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afternoons capture the largest live audience; use evenings as a secondary window.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8803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channels to focus on:  </a:t>
            </a:r>
            <a:r>
              <a:rPr lang="en-US" sz="1100" dirty="0">
                <a:solidFill>
                  <a:srgbClr val="0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sponsorship and cross-promotion around Supersport Live Events and cricket coverage.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37490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audience to target:  </a:t>
            </a:r>
            <a:r>
              <a:rPr lang="en-US" sz="1100" dirty="0">
                <a:solidFill>
                  <a:srgbClr val="0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in Gauteng are the largest reachable segment — lead with this group.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46177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opportunity:  </a:t>
            </a:r>
            <a:r>
              <a:rPr lang="en-US" sz="1100" dirty="0">
                <a:solidFill>
                  <a:srgbClr val="0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whether the weekend dip reflects genuine behaviour or a programming gap.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54864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 </a:t>
            </a:r>
            <a:r>
              <a:rPr lang="en-US" sz="1100" dirty="0">
                <a:solidFill>
                  <a:srgbClr val="0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'Uncategorized'/'Unknown' values and confirm why opt-in flags are uniformly yes before using them for targeting.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Kagiso Matenchi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635</Words>
  <Application>Microsoft Office PowerPoint</Application>
  <PresentationFormat>Widescreen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Kagiso Matenchi</cp:lastModifiedBy>
  <cp:revision>2</cp:revision>
  <dcterms:created xsi:type="dcterms:W3CDTF">2026-07-19T20:12:15Z</dcterms:created>
  <dcterms:modified xsi:type="dcterms:W3CDTF">2026-07-19T20:19:39Z</dcterms:modified>
</cp:coreProperties>
</file>